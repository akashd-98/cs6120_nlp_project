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ndal" charset="1" panose="02000503000000020004"/>
      <p:regular r:id="rId21"/>
    </p:embeddedFont>
    <p:embeddedFont>
      <p:font typeface="Glacial Indifference" charset="1" panose="00000000000000000000"/>
      <p:regular r:id="rId22"/>
    </p:embeddedFont>
    <p:embeddedFont>
      <p:font typeface="Century Gothic Paneuropean Bold" charset="1" panose="020B0702020202020204"/>
      <p:regular r:id="rId23"/>
    </p:embeddedFont>
    <p:embeddedFont>
      <p:font typeface="Open Sans" charset="1" panose="020B0606030504020204"/>
      <p:regular r:id="rId24"/>
    </p:embeddedFont>
    <p:embeddedFont>
      <p:font typeface="Open Sans Bold" charset="1" panose="020B0806030504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82110" y="5181110"/>
            <a:ext cx="8154379" cy="8154379"/>
          </a:xfrm>
          <a:custGeom>
            <a:avLst/>
            <a:gdLst/>
            <a:ahLst/>
            <a:cxnLst/>
            <a:rect r="r" b="b" t="t" l="l"/>
            <a:pathLst>
              <a:path h="8154379" w="8154379">
                <a:moveTo>
                  <a:pt x="0" y="0"/>
                </a:moveTo>
                <a:lnTo>
                  <a:pt x="8154380" y="0"/>
                </a:lnTo>
                <a:lnTo>
                  <a:pt x="8154380" y="8154380"/>
                </a:lnTo>
                <a:lnTo>
                  <a:pt x="0" y="815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64929" y="-728801"/>
            <a:ext cx="4809082" cy="1757501"/>
          </a:xfrm>
          <a:custGeom>
            <a:avLst/>
            <a:gdLst/>
            <a:ahLst/>
            <a:cxnLst/>
            <a:rect r="r" b="b" t="t" l="l"/>
            <a:pathLst>
              <a:path h="1757501" w="4809082">
                <a:moveTo>
                  <a:pt x="0" y="0"/>
                </a:moveTo>
                <a:lnTo>
                  <a:pt x="4809082" y="0"/>
                </a:lnTo>
                <a:lnTo>
                  <a:pt x="4809082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48490" y="-2973269"/>
            <a:ext cx="8154379" cy="8154379"/>
          </a:xfrm>
          <a:custGeom>
            <a:avLst/>
            <a:gdLst/>
            <a:ahLst/>
            <a:cxnLst/>
            <a:rect r="r" b="b" t="t" l="l"/>
            <a:pathLst>
              <a:path h="8154379" w="8154379">
                <a:moveTo>
                  <a:pt x="0" y="0"/>
                </a:moveTo>
                <a:lnTo>
                  <a:pt x="8154380" y="0"/>
                </a:lnTo>
                <a:lnTo>
                  <a:pt x="8154380" y="8154379"/>
                </a:lnTo>
                <a:lnTo>
                  <a:pt x="0" y="8154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74011" y="1603991"/>
            <a:ext cx="9992479" cy="377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516"/>
              </a:lnSpc>
            </a:pPr>
            <a:r>
              <a:rPr lang="en-US" sz="14516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CS6120</a:t>
            </a:r>
          </a:p>
          <a:p>
            <a:pPr algn="r">
              <a:lnSpc>
                <a:spcPts val="14516"/>
              </a:lnSpc>
            </a:pPr>
            <a:r>
              <a:rPr lang="en-US" sz="14516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NLP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36144" y="-195501"/>
            <a:ext cx="4425558" cy="4425558"/>
          </a:xfrm>
          <a:custGeom>
            <a:avLst/>
            <a:gdLst/>
            <a:ahLst/>
            <a:cxnLst/>
            <a:rect r="r" b="b" t="t" l="l"/>
            <a:pathLst>
              <a:path h="4425558" w="4425558">
                <a:moveTo>
                  <a:pt x="0" y="0"/>
                </a:moveTo>
                <a:lnTo>
                  <a:pt x="4425558" y="0"/>
                </a:lnTo>
                <a:lnTo>
                  <a:pt x="4425558" y="4425558"/>
                </a:lnTo>
                <a:lnTo>
                  <a:pt x="0" y="4425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4171741" y="6177516"/>
            <a:ext cx="4425558" cy="4425558"/>
          </a:xfrm>
          <a:custGeom>
            <a:avLst/>
            <a:gdLst/>
            <a:ahLst/>
            <a:cxnLst/>
            <a:rect r="r" b="b" t="t" l="l"/>
            <a:pathLst>
              <a:path h="4425558" w="4425558">
                <a:moveTo>
                  <a:pt x="4425558" y="4425559"/>
                </a:moveTo>
                <a:lnTo>
                  <a:pt x="0" y="4425559"/>
                </a:lnTo>
                <a:lnTo>
                  <a:pt x="0" y="0"/>
                </a:lnTo>
                <a:lnTo>
                  <a:pt x="4425558" y="0"/>
                </a:lnTo>
                <a:lnTo>
                  <a:pt x="4425558" y="442555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5233" y="8131414"/>
            <a:ext cx="7315200" cy="1923288"/>
          </a:xfrm>
          <a:custGeom>
            <a:avLst/>
            <a:gdLst/>
            <a:ahLst/>
            <a:cxnLst/>
            <a:rect r="r" b="b" t="t" l="l"/>
            <a:pathLst>
              <a:path h="1923288" w="7315200">
                <a:moveTo>
                  <a:pt x="0" y="0"/>
                </a:moveTo>
                <a:lnTo>
                  <a:pt x="7315200" y="0"/>
                </a:lnTo>
                <a:lnTo>
                  <a:pt x="7315200" y="1923288"/>
                </a:lnTo>
                <a:lnTo>
                  <a:pt x="0" y="19232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182110" y="-728801"/>
            <a:ext cx="4809082" cy="1757501"/>
          </a:xfrm>
          <a:custGeom>
            <a:avLst/>
            <a:gdLst/>
            <a:ahLst/>
            <a:cxnLst/>
            <a:rect r="r" b="b" t="t" l="l"/>
            <a:pathLst>
              <a:path h="1757501" w="4809082">
                <a:moveTo>
                  <a:pt x="0" y="0"/>
                </a:moveTo>
                <a:lnTo>
                  <a:pt x="4809083" y="0"/>
                </a:lnTo>
                <a:lnTo>
                  <a:pt x="4809083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63434" y="8209981"/>
            <a:ext cx="6708306" cy="1699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2"/>
              </a:lnSpc>
            </a:pPr>
            <a:r>
              <a:rPr lang="en-US" sz="321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Akash Dhande (002086876)</a:t>
            </a:r>
          </a:p>
          <a:p>
            <a:pPr algn="ctr">
              <a:lnSpc>
                <a:spcPts val="4502"/>
              </a:lnSpc>
            </a:pPr>
            <a:r>
              <a:rPr lang="en-US" sz="321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Gargi Vipat (002068454)</a:t>
            </a:r>
          </a:p>
          <a:p>
            <a:pPr algn="ctr">
              <a:lnSpc>
                <a:spcPts val="4502"/>
              </a:lnSpc>
            </a:pPr>
            <a:r>
              <a:rPr lang="en-US" sz="321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Rohan Puntambekar (002300568)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073520" y="-728801"/>
            <a:ext cx="4809082" cy="1757501"/>
          </a:xfrm>
          <a:custGeom>
            <a:avLst/>
            <a:gdLst/>
            <a:ahLst/>
            <a:cxnLst/>
            <a:rect r="r" b="b" t="t" l="l"/>
            <a:pathLst>
              <a:path h="1757501" w="4809082">
                <a:moveTo>
                  <a:pt x="0" y="0"/>
                </a:moveTo>
                <a:lnTo>
                  <a:pt x="4809082" y="0"/>
                </a:lnTo>
                <a:lnTo>
                  <a:pt x="4809082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26316" y="4578594"/>
            <a:ext cx="12091820" cy="264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0"/>
              </a:lnSpc>
              <a:spcBef>
                <a:spcPct val="0"/>
              </a:spcBef>
            </a:pPr>
            <a:r>
              <a:rPr lang="en-US" sz="3757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Op</a:t>
            </a:r>
            <a:r>
              <a:rPr lang="en-US" sz="3757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timizing Retrieval-Augmented Generation for Construction Management: An Ablation Study on Embedding and Generative Models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2B6ABF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875411" y="1194757"/>
            <a:ext cx="8537178" cy="139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INTRODUCTION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187375" y="3272719"/>
            <a:ext cx="14202293" cy="4173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8185" indent="-319093" lvl="1">
              <a:lnSpc>
                <a:spcPts val="4138"/>
              </a:lnSpc>
              <a:spcBef>
                <a:spcPct val="0"/>
              </a:spcBef>
              <a:buFont typeface="Arial"/>
              <a:buChar char="•"/>
            </a:pPr>
            <a:r>
              <a:rPr lang="en-US" sz="2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c</a:t>
            </a:r>
            <a:r>
              <a:rPr lang="en-US" sz="2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onstruction industry’s growing project complexity and strict safety regulations often overwhelm traditional manual monitoring and reporting methods.</a:t>
            </a:r>
          </a:p>
          <a:p>
            <a:pPr algn="just" marL="638185" indent="-319093" lvl="1">
              <a:lnSpc>
                <a:spcPts val="4138"/>
              </a:lnSpc>
              <a:spcBef>
                <a:spcPct val="0"/>
              </a:spcBef>
              <a:buFont typeface="Arial"/>
              <a:buChar char="•"/>
            </a:pPr>
            <a:r>
              <a:rPr lang="en-US" sz="2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Massive volumes of technical specifications, regulations, and unstructured data impede swift, accurate decision‑making.</a:t>
            </a:r>
          </a:p>
          <a:p>
            <a:pPr algn="just" marL="638185" indent="-319093" lvl="1">
              <a:lnSpc>
                <a:spcPts val="4138"/>
              </a:lnSpc>
              <a:spcBef>
                <a:spcPct val="0"/>
              </a:spcBef>
              <a:buFont typeface="Arial"/>
              <a:buChar char="•"/>
            </a:pPr>
            <a:r>
              <a:rPr lang="en-US" sz="2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Integrating generative AI through RAG models promises automated retrieval and contextual interpretation of domain documents, helping reduce decision making times significantly.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2B6ABF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875411" y="1194757"/>
            <a:ext cx="8537178" cy="139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OBJECTIVE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187375" y="3272719"/>
            <a:ext cx="13913251" cy="364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9065" indent="-319532" lvl="1">
              <a:lnSpc>
                <a:spcPts val="4144"/>
              </a:lnSpc>
              <a:spcBef>
                <a:spcPct val="0"/>
              </a:spcBef>
              <a:buFont typeface="Arial"/>
              <a:buChar char="•"/>
            </a:pPr>
            <a:r>
              <a:rPr lang="en-US" sz="29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lang="en-US" sz="29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uild a domain‑specific RAG system to automate retrieval of relevant safety standards and technical guidelines.</a:t>
            </a:r>
          </a:p>
          <a:p>
            <a:pPr algn="just" marL="639065" indent="-319532" lvl="1">
              <a:lnSpc>
                <a:spcPts val="4144"/>
              </a:lnSpc>
              <a:spcBef>
                <a:spcPct val="0"/>
              </a:spcBef>
              <a:buFont typeface="Arial"/>
              <a:buChar char="•"/>
            </a:pPr>
            <a:r>
              <a:rPr lang="en-US" sz="29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Conduct an ablation study on embedding and generative strategies to determine the most effective configuration.</a:t>
            </a:r>
          </a:p>
          <a:p>
            <a:pPr algn="just" marL="639065" indent="-319532" lvl="1">
              <a:lnSpc>
                <a:spcPts val="4144"/>
              </a:lnSpc>
              <a:spcBef>
                <a:spcPct val="0"/>
              </a:spcBef>
              <a:buFont typeface="Arial"/>
              <a:buChar char="•"/>
            </a:pPr>
            <a:r>
              <a:rPr lang="en-US" sz="29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Evaluate generative model outputs using BLEU and ROUGE metrics against a curated ground‑truth from Wendel specifications.</a:t>
            </a:r>
          </a:p>
          <a:p>
            <a:pPr algn="just">
              <a:lnSpc>
                <a:spcPts val="414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2B6ABF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503991" y="1194757"/>
            <a:ext cx="9280017" cy="139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LITERATURE REVIEW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7480188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705658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13049" y="3028023"/>
            <a:ext cx="16230600" cy="469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9065" indent="-319532" lvl="1">
              <a:lnSpc>
                <a:spcPts val="414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6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CONST</a:t>
            </a:r>
            <a:r>
              <a:rPr lang="en-US" b="true" sz="296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RUCTA Framework [1]</a:t>
            </a:r>
            <a:r>
              <a:rPr lang="en-US" sz="29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Combines Static RAG, Knowledge RAG, and Reinforcement Learning from Human Feedback to automate construction scheduling through context-aware retrieval and expert-aligned planning.</a:t>
            </a:r>
          </a:p>
          <a:p>
            <a:pPr algn="just" marL="639065" indent="-319532" lvl="1">
              <a:lnSpc>
                <a:spcPts val="414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6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Entropy-Optimized Dynamic Text Segmentation (EDTS) [2]</a:t>
            </a:r>
            <a:r>
              <a:rPr lang="en-US" sz="29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Improves traditional retrieval by dynamically chunking construction documents into semantically coherent sections using entropy calculations for better information clarity.</a:t>
            </a:r>
          </a:p>
          <a:p>
            <a:pPr algn="just" marL="639065" indent="-319532" lvl="1">
              <a:lnSpc>
                <a:spcPts val="414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6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AEC Q&amp;A Advisor [3]: </a:t>
            </a:r>
            <a:r>
              <a:rPr lang="en-US" sz="29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RAG-based system reduces LLM hallucinations in technical document QA by combining advanced prompt design (e.g., CoT, Few-shot) with cosine similarity-based retrieval, outperforming traditional search tools.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88343" y="8343665"/>
            <a:ext cx="16770957" cy="914635"/>
            <a:chOff x="0" y="0"/>
            <a:chExt cx="22361277" cy="121951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28575"/>
              <a:ext cx="22361277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[1] </a:t>
              </a: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Yifan Zhang, Xue Yang (2025) CONSTRUCTA: Automating Commercial Construction Schedules in Fabrication Facilities with Large Language Models. arXiv:2502.12066v1 [cs.AI] 17 Feb 2025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428938"/>
              <a:ext cx="216408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[2] </a:t>
              </a: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Haiyuan Wang, et al. (2025) Entropy-Optimized Dynamic Text Segmentation and RAG-Enhanced LLMs for Construction Engineering Knowledge Base. doi.org/10.3390/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886138"/>
              <a:ext cx="18457696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[3] Yunshun Zhong, Tamer El-Diraby (2025) Generative project question answering system: triangulating three approaches for project authoring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2B6ABF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503991" y="1194757"/>
            <a:ext cx="9280017" cy="139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LITERATURE REVIEW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7480188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705658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1794" y="3375946"/>
            <a:ext cx="16230600" cy="364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9065" indent="-319532" lvl="1">
              <a:lnSpc>
                <a:spcPts val="414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6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Safety Knowledge Retrieval with RAG vs. Fine-Tuned LLM [4]:</a:t>
            </a:r>
            <a:r>
              <a:rPr lang="en-US" sz="29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 comparative study showing RAG and fine-tuned models outperform GPT-4 in construction safety tasks, improving BLEU/ROUGE scores and reducing hallucinations using domain-specific prompts and embeddings.</a:t>
            </a:r>
          </a:p>
          <a:p>
            <a:pPr algn="just" marL="639065" indent="-319532" lvl="1">
              <a:lnSpc>
                <a:spcPts val="414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6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RAG4CM System [5]: </a:t>
            </a:r>
            <a:r>
              <a:rPr lang="en-US" sz="29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Introduces a knowledge graph-based RAG pipeline that chunks multimodal documents semantically and incorporates user-preference learning, achieving high accuracy in construction management information retrieval.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88343" y="8343665"/>
            <a:ext cx="16991845" cy="838435"/>
            <a:chOff x="0" y="0"/>
            <a:chExt cx="22655794" cy="111791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28575"/>
              <a:ext cx="22655794" cy="688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[4] Ju</a:t>
              </a: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ngwon Lee et al. (2024) Performance comparison of retrieval-augmented generation and fine-tuned large language models for construction safety management knowledge retrieval doi.org/10.1016/j.autcon.2024.105846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784538"/>
              <a:ext cx="21925828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[5] Che</a:t>
              </a: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ngke Wu et al. (2025) Retrieval augmented generation-driven information retrieval and question answering in construction management doi.org/10.1016/j.aei.2025.103158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74431" y="1193263"/>
            <a:ext cx="10942563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DATASET DESCRIPTION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2B6ABF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69057" y="3279901"/>
            <a:ext cx="15149885" cy="469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4"/>
              </a:lnSpc>
              <a:spcBef>
                <a:spcPct val="0"/>
              </a:spcBef>
            </a:pPr>
          </a:p>
          <a:p>
            <a:pPr algn="just" marL="639065" indent="-319532" lvl="1">
              <a:lnSpc>
                <a:spcPts val="4144"/>
              </a:lnSpc>
              <a:spcBef>
                <a:spcPct val="0"/>
              </a:spcBef>
              <a:buFont typeface="Arial"/>
              <a:buChar char="•"/>
            </a:pPr>
            <a:r>
              <a:rPr lang="en-US" sz="29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Utilized the Wendel specifications document on office building renovation, the dataset captures detailed construction processes, codes, and safety regulations.</a:t>
            </a:r>
          </a:p>
          <a:p>
            <a:pPr algn="just" marL="639065" indent="-319532" lvl="1">
              <a:lnSpc>
                <a:spcPts val="4144"/>
              </a:lnSpc>
              <a:spcBef>
                <a:spcPct val="0"/>
              </a:spcBef>
              <a:buFont typeface="Arial"/>
              <a:buChar char="•"/>
            </a:pPr>
            <a:r>
              <a:rPr lang="en-US" sz="29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9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 document’s consistent formatting and clear sectioning helps segment content and align each Q&amp;A pair with its relevant section.</a:t>
            </a:r>
          </a:p>
          <a:p>
            <a:pPr algn="just" marL="639065" indent="-319532" lvl="1">
              <a:lnSpc>
                <a:spcPts val="4144"/>
              </a:lnSpc>
              <a:spcBef>
                <a:spcPct val="0"/>
              </a:spcBef>
              <a:buFont typeface="Arial"/>
              <a:buChar char="•"/>
            </a:pPr>
            <a:r>
              <a:rPr lang="en-US" sz="29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Organized as a CSV with columns for Question Type, Question, Answer, and Source Section, featuring factual, reasoning, and quantitative questions for comprehensive domain coverage.</a:t>
            </a:r>
          </a:p>
          <a:p>
            <a:pPr algn="just">
              <a:lnSpc>
                <a:spcPts val="414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4886" y="632108"/>
            <a:ext cx="15454057" cy="222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49"/>
              </a:lnSpc>
            </a:pPr>
            <a:r>
              <a:rPr lang="en-US" b="true" sz="63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DATA PREPROCESSING &amp; GROUND TRUTH GENERATION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2B6ABF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753146" y="3085173"/>
            <a:ext cx="11820165" cy="6342832"/>
          </a:xfrm>
          <a:custGeom>
            <a:avLst/>
            <a:gdLst/>
            <a:ahLst/>
            <a:cxnLst/>
            <a:rect r="r" b="b" t="t" l="l"/>
            <a:pathLst>
              <a:path h="6342832" w="11820165">
                <a:moveTo>
                  <a:pt x="0" y="0"/>
                </a:moveTo>
                <a:lnTo>
                  <a:pt x="11820165" y="0"/>
                </a:lnTo>
                <a:lnTo>
                  <a:pt x="11820165" y="6342831"/>
                </a:lnTo>
                <a:lnTo>
                  <a:pt x="0" y="63428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95" r="0" b="-2295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16972" y="1240795"/>
            <a:ext cx="15454057" cy="130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69"/>
              </a:lnSpc>
            </a:pPr>
            <a:r>
              <a:rPr lang="en-US" b="true" sz="76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EXPERIMENTAL METHODOLOGY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2B6ABF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437945" y="3085173"/>
            <a:ext cx="9412110" cy="6011985"/>
          </a:xfrm>
          <a:custGeom>
            <a:avLst/>
            <a:gdLst/>
            <a:ahLst/>
            <a:cxnLst/>
            <a:rect r="r" b="b" t="t" l="l"/>
            <a:pathLst>
              <a:path h="6011985" w="9412110">
                <a:moveTo>
                  <a:pt x="0" y="0"/>
                </a:moveTo>
                <a:lnTo>
                  <a:pt x="9412110" y="0"/>
                </a:lnTo>
                <a:lnTo>
                  <a:pt x="9412110" y="6011985"/>
                </a:lnTo>
                <a:lnTo>
                  <a:pt x="0" y="6011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2B6ABF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3535854"/>
            <a:ext cx="8270051" cy="5282495"/>
          </a:xfrm>
          <a:custGeom>
            <a:avLst/>
            <a:gdLst/>
            <a:ahLst/>
            <a:cxnLst/>
            <a:rect r="r" b="b" t="t" l="l"/>
            <a:pathLst>
              <a:path h="5282495" w="8270051">
                <a:moveTo>
                  <a:pt x="0" y="0"/>
                </a:moveTo>
                <a:lnTo>
                  <a:pt x="8270051" y="0"/>
                </a:lnTo>
                <a:lnTo>
                  <a:pt x="8270051" y="5282495"/>
                </a:lnTo>
                <a:lnTo>
                  <a:pt x="0" y="52824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515025" y="3454084"/>
            <a:ext cx="7356003" cy="539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0527" indent="-275263" lvl="1">
              <a:lnSpc>
                <a:spcPts val="356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IBM Granite Embedding 278M</a:t>
            </a:r>
            <a:r>
              <a:rPr lang="en-US" sz="25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Utilizes a BERT-based biencoder with 384-dimensional vectors, 6 blocks, 512-token context, and CLS pooling—designed for efficient, text-only encoding of standard-length inputs.</a:t>
            </a:r>
          </a:p>
          <a:p>
            <a:pPr algn="just">
              <a:lnSpc>
                <a:spcPts val="3569"/>
              </a:lnSpc>
              <a:spcBef>
                <a:spcPct val="0"/>
              </a:spcBef>
            </a:pPr>
          </a:p>
          <a:p>
            <a:pPr algn="just" marL="550527" indent="-275263" lvl="1">
              <a:lnSpc>
                <a:spcPts val="356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nomic-embed-text:latest</a:t>
            </a:r>
            <a:r>
              <a:rPr lang="en-US" sz="25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Built on a “nomic-bert” architecture, it supports longer contexts (up to 2048 tokens) with 12 blocks, 768-dimensional embeddings, 12 attention heads, and mean pooling, excelling in handling complex, lengthy passages.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4886" y="1240795"/>
            <a:ext cx="15454057" cy="130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69"/>
              </a:lnSpc>
            </a:pPr>
            <a:r>
              <a:rPr lang="en-US" b="true" sz="76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EMBEDDING PIPELINE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274887" y="3814618"/>
            <a:ext cx="6584242" cy="2562396"/>
            <a:chOff x="0" y="0"/>
            <a:chExt cx="1734121" cy="6748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34121" cy="674870"/>
            </a:xfrm>
            <a:custGeom>
              <a:avLst/>
              <a:gdLst/>
              <a:ahLst/>
              <a:cxnLst/>
              <a:rect r="r" b="b" t="t" l="l"/>
              <a:pathLst>
                <a:path h="674870" w="1734121">
                  <a:moveTo>
                    <a:pt x="0" y="0"/>
                  </a:moveTo>
                  <a:lnTo>
                    <a:pt x="1734121" y="0"/>
                  </a:lnTo>
                  <a:lnTo>
                    <a:pt x="1734121" y="674870"/>
                  </a:lnTo>
                  <a:lnTo>
                    <a:pt x="0" y="6748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34121" cy="712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2B6ABF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3535854"/>
            <a:ext cx="8270051" cy="5282495"/>
          </a:xfrm>
          <a:custGeom>
            <a:avLst/>
            <a:gdLst/>
            <a:ahLst/>
            <a:cxnLst/>
            <a:rect r="r" b="b" t="t" l="l"/>
            <a:pathLst>
              <a:path h="5282495" w="8270051">
                <a:moveTo>
                  <a:pt x="0" y="0"/>
                </a:moveTo>
                <a:lnTo>
                  <a:pt x="8270051" y="0"/>
                </a:lnTo>
                <a:lnTo>
                  <a:pt x="8270051" y="5282495"/>
                </a:lnTo>
                <a:lnTo>
                  <a:pt x="0" y="52824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574146" y="5815916"/>
            <a:ext cx="6569854" cy="1795543"/>
            <a:chOff x="0" y="0"/>
            <a:chExt cx="1730332" cy="4729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30332" cy="472900"/>
            </a:xfrm>
            <a:custGeom>
              <a:avLst/>
              <a:gdLst/>
              <a:ahLst/>
              <a:cxnLst/>
              <a:rect r="r" b="b" t="t" l="l"/>
              <a:pathLst>
                <a:path h="472900" w="1730332">
                  <a:moveTo>
                    <a:pt x="0" y="0"/>
                  </a:moveTo>
                  <a:lnTo>
                    <a:pt x="1730332" y="0"/>
                  </a:lnTo>
                  <a:lnTo>
                    <a:pt x="1730332" y="472900"/>
                  </a:lnTo>
                  <a:lnTo>
                    <a:pt x="0" y="4729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730332" cy="5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64886" y="1240795"/>
            <a:ext cx="15454057" cy="130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69"/>
              </a:lnSpc>
            </a:pPr>
            <a:r>
              <a:rPr lang="en-US" b="true" sz="76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GENERATION PIPELINE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27886" y="3923486"/>
            <a:ext cx="7262656" cy="445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0545" indent="-275272" lvl="1">
              <a:lnSpc>
                <a:spcPts val="356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5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Gemma Models</a:t>
            </a:r>
            <a:r>
              <a:rPr lang="en-US" sz="25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Evaluated gemma3:1b (1B params, 32K token context, BERT-inspired, resource-efficient) and gemma3:4b (4B params, 128K token context, multimodal, extended context).</a:t>
            </a:r>
          </a:p>
          <a:p>
            <a:pPr algn="just">
              <a:lnSpc>
                <a:spcPts val="3569"/>
              </a:lnSpc>
              <a:spcBef>
                <a:spcPct val="0"/>
              </a:spcBef>
            </a:pPr>
          </a:p>
          <a:p>
            <a:pPr algn="just" marL="550545" indent="-275272" lvl="1">
              <a:lnSpc>
                <a:spcPts val="356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5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DeepSeek Model</a:t>
            </a:r>
            <a:r>
              <a:rPr lang="en-US" sz="25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Assessed deepseek‐r1:7b (7B params, 131K token window, 28 attention heads) that distills reasoning from larger architectures.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2B6ABF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3535854"/>
            <a:ext cx="8270051" cy="5282495"/>
          </a:xfrm>
          <a:custGeom>
            <a:avLst/>
            <a:gdLst/>
            <a:ahLst/>
            <a:cxnLst/>
            <a:rect r="r" b="b" t="t" l="l"/>
            <a:pathLst>
              <a:path h="5282495" w="8270051">
                <a:moveTo>
                  <a:pt x="0" y="0"/>
                </a:moveTo>
                <a:lnTo>
                  <a:pt x="8270051" y="0"/>
                </a:lnTo>
                <a:lnTo>
                  <a:pt x="8270051" y="5282495"/>
                </a:lnTo>
                <a:lnTo>
                  <a:pt x="0" y="52824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52664" y="6470546"/>
            <a:ext cx="5372816" cy="2207025"/>
            <a:chOff x="0" y="0"/>
            <a:chExt cx="1415063" cy="5812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5063" cy="581274"/>
            </a:xfrm>
            <a:custGeom>
              <a:avLst/>
              <a:gdLst/>
              <a:ahLst/>
              <a:cxnLst/>
              <a:rect r="r" b="b" t="t" l="l"/>
              <a:pathLst>
                <a:path h="581274" w="1415063">
                  <a:moveTo>
                    <a:pt x="0" y="0"/>
                  </a:moveTo>
                  <a:lnTo>
                    <a:pt x="1415063" y="0"/>
                  </a:lnTo>
                  <a:lnTo>
                    <a:pt x="1415063" y="581274"/>
                  </a:lnTo>
                  <a:lnTo>
                    <a:pt x="0" y="5812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15063" cy="619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64886" y="1240795"/>
            <a:ext cx="15454057" cy="130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69"/>
              </a:lnSpc>
            </a:pPr>
            <a:r>
              <a:rPr lang="en-US" b="true" sz="76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EVALUATION PIPELINE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99611" y="3923486"/>
            <a:ext cx="7219332" cy="445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0545" indent="-275272" lvl="1">
              <a:lnSpc>
                <a:spcPts val="356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5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BLEU Score: </a:t>
            </a:r>
            <a:r>
              <a:rPr lang="en-US" sz="25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measures precision by evaluating how much of the generated text overlaps with the reference answer's wording and structure (n-gram match).</a:t>
            </a:r>
          </a:p>
          <a:p>
            <a:pPr algn="just">
              <a:lnSpc>
                <a:spcPts val="3569"/>
              </a:lnSpc>
              <a:spcBef>
                <a:spcPct val="0"/>
              </a:spcBef>
            </a:pPr>
          </a:p>
          <a:p>
            <a:pPr algn="just" marL="550545" indent="-275272" lvl="1">
              <a:lnSpc>
                <a:spcPts val="356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5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ROUGE Sc</a:t>
            </a:r>
            <a:r>
              <a:rPr lang="en-US" b="true" sz="255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ore:</a:t>
            </a:r>
            <a:r>
              <a:rPr lang="en-US" sz="25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It complements this by measuring recall, assessing how much of the reference content is captured in the generated output (including ROUGE-N and ROUGE-L variants).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2B6ABF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495083" y="2915468"/>
            <a:ext cx="11301259" cy="6342832"/>
          </a:xfrm>
          <a:custGeom>
            <a:avLst/>
            <a:gdLst/>
            <a:ahLst/>
            <a:cxnLst/>
            <a:rect r="r" b="b" t="t" l="l"/>
            <a:pathLst>
              <a:path h="6342832" w="11301259">
                <a:moveTo>
                  <a:pt x="0" y="0"/>
                </a:moveTo>
                <a:lnTo>
                  <a:pt x="11301259" y="0"/>
                </a:lnTo>
                <a:lnTo>
                  <a:pt x="11301259" y="6342832"/>
                </a:lnTo>
                <a:lnTo>
                  <a:pt x="0" y="6342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970629" y="9107702"/>
            <a:ext cx="2814294" cy="150598"/>
            <a:chOff x="0" y="0"/>
            <a:chExt cx="741213" cy="396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1213" cy="39664"/>
            </a:xfrm>
            <a:custGeom>
              <a:avLst/>
              <a:gdLst/>
              <a:ahLst/>
              <a:cxnLst/>
              <a:rect r="r" b="b" t="t" l="l"/>
              <a:pathLst>
                <a:path h="39664" w="741213">
                  <a:moveTo>
                    <a:pt x="0" y="0"/>
                  </a:moveTo>
                  <a:lnTo>
                    <a:pt x="741213" y="0"/>
                  </a:lnTo>
                  <a:lnTo>
                    <a:pt x="741213" y="39664"/>
                  </a:lnTo>
                  <a:lnTo>
                    <a:pt x="0" y="396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41213" cy="77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514953" y="9107702"/>
            <a:ext cx="3004558" cy="123417"/>
            <a:chOff x="0" y="0"/>
            <a:chExt cx="791324" cy="325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1324" cy="32505"/>
            </a:xfrm>
            <a:custGeom>
              <a:avLst/>
              <a:gdLst/>
              <a:ahLst/>
              <a:cxnLst/>
              <a:rect r="r" b="b" t="t" l="l"/>
              <a:pathLst>
                <a:path h="32505" w="791324">
                  <a:moveTo>
                    <a:pt x="16252" y="0"/>
                  </a:moveTo>
                  <a:lnTo>
                    <a:pt x="775072" y="0"/>
                  </a:lnTo>
                  <a:cubicBezTo>
                    <a:pt x="784048" y="0"/>
                    <a:pt x="791324" y="7276"/>
                    <a:pt x="791324" y="16252"/>
                  </a:cubicBezTo>
                  <a:lnTo>
                    <a:pt x="791324" y="16252"/>
                  </a:lnTo>
                  <a:cubicBezTo>
                    <a:pt x="791324" y="20563"/>
                    <a:pt x="789612" y="24697"/>
                    <a:pt x="786564" y="27745"/>
                  </a:cubicBezTo>
                  <a:cubicBezTo>
                    <a:pt x="783516" y="30793"/>
                    <a:pt x="779382" y="32505"/>
                    <a:pt x="775072" y="32505"/>
                  </a:cubicBezTo>
                  <a:lnTo>
                    <a:pt x="16252" y="32505"/>
                  </a:lnTo>
                  <a:cubicBezTo>
                    <a:pt x="7276" y="32505"/>
                    <a:pt x="0" y="25228"/>
                    <a:pt x="0" y="16252"/>
                  </a:cubicBezTo>
                  <a:lnTo>
                    <a:pt x="0" y="16252"/>
                  </a:lnTo>
                  <a:cubicBezTo>
                    <a:pt x="0" y="7276"/>
                    <a:pt x="7276" y="0"/>
                    <a:pt x="16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91324" cy="70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825412" y="1193263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BLEU SCORES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2B6ABF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495083" y="2915468"/>
            <a:ext cx="11301259" cy="6342832"/>
          </a:xfrm>
          <a:custGeom>
            <a:avLst/>
            <a:gdLst/>
            <a:ahLst/>
            <a:cxnLst/>
            <a:rect r="r" b="b" t="t" l="l"/>
            <a:pathLst>
              <a:path h="6342832" w="11301259">
                <a:moveTo>
                  <a:pt x="0" y="0"/>
                </a:moveTo>
                <a:lnTo>
                  <a:pt x="11301259" y="0"/>
                </a:lnTo>
                <a:lnTo>
                  <a:pt x="11301259" y="6342832"/>
                </a:lnTo>
                <a:lnTo>
                  <a:pt x="0" y="6342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944161" y="9101459"/>
            <a:ext cx="3086100" cy="313681"/>
            <a:chOff x="0" y="0"/>
            <a:chExt cx="812800" cy="826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2616"/>
            </a:xfrm>
            <a:custGeom>
              <a:avLst/>
              <a:gdLst/>
              <a:ahLst/>
              <a:cxnLst/>
              <a:rect r="r" b="b" t="t" l="l"/>
              <a:pathLst>
                <a:path h="8261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2616"/>
                  </a:lnTo>
                  <a:lnTo>
                    <a:pt x="0" y="826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12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118527" y="9101459"/>
            <a:ext cx="2352224" cy="313681"/>
            <a:chOff x="0" y="0"/>
            <a:chExt cx="619516" cy="826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9516" cy="82616"/>
            </a:xfrm>
            <a:custGeom>
              <a:avLst/>
              <a:gdLst/>
              <a:ahLst/>
              <a:cxnLst/>
              <a:rect r="r" b="b" t="t" l="l"/>
              <a:pathLst>
                <a:path h="82616" w="619516">
                  <a:moveTo>
                    <a:pt x="0" y="0"/>
                  </a:moveTo>
                  <a:lnTo>
                    <a:pt x="619516" y="0"/>
                  </a:lnTo>
                  <a:lnTo>
                    <a:pt x="619516" y="82616"/>
                  </a:lnTo>
                  <a:lnTo>
                    <a:pt x="0" y="826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19516" cy="12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668867" y="1193263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ROUGE SCORES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1193263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CONCLUSION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2B6ABF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99589" y="3028023"/>
            <a:ext cx="15892247" cy="522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9065" indent="-319532" lvl="1">
              <a:lnSpc>
                <a:spcPts val="414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6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Best Performance Configuration:</a:t>
            </a:r>
            <a:r>
              <a:rPr lang="en-US" sz="29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The IBM Granite Embedding Model (278M) combined with Gemma3 1b at a 0.5 temperature achieved the highest BLEU (0.1252) and ROUGE (0.3178) scores. Its BERT-based 384-dimensional embeddings captured semantics in construction texts better than nomic-embed-text 137M. Notably, the lighter Gemma3 1b sometimes outperformed larger models, offering focused and less noisy responses.</a:t>
            </a:r>
          </a:p>
          <a:p>
            <a:pPr algn="just">
              <a:lnSpc>
                <a:spcPts val="4144"/>
              </a:lnSpc>
              <a:spcBef>
                <a:spcPct val="0"/>
              </a:spcBef>
            </a:pPr>
          </a:p>
          <a:p>
            <a:pPr algn="just" marL="639065" indent="-319532" lvl="1">
              <a:lnSpc>
                <a:spcPts val="414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6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Impact of Temperature and Model Design:</a:t>
            </a:r>
            <a:r>
              <a:rPr lang="en-US" sz="29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Temperature tuning was critical—0.5 struck the ideal balance between determinism and diversity. Lower values (0.1) led to overly rigid outputs; higher values (0.8) reduced precision and recall.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0481" y="4013348"/>
            <a:ext cx="12387037" cy="203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b="true" sz="1188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2B6ABF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2B6A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DAGkt1vxBwY</dc:identifier>
  <dcterms:modified xsi:type="dcterms:W3CDTF">2011-08-01T06:04:30Z</dcterms:modified>
  <cp:revision>1</cp:revision>
  <dc:title>NLP Project Presentation</dc:title>
</cp:coreProperties>
</file>